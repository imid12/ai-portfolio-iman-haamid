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1340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4" Type="http://schemas.openxmlformats.org/officeDocument/2006/relationships/image" Target="../media/image10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4" Type="http://schemas.openxmlformats.org/officeDocument/2006/relationships/image" Target="../media/image1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DA66CBE-2410-49CB-B3B0-DD1A369FDAE0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9DAA93C3-F21C-41AB-AFBB-28011F09733A}">
      <dgm:prSet/>
      <dgm:spPr/>
      <dgm:t>
        <a:bodyPr/>
        <a:lstStyle/>
        <a:p>
          <a:r>
            <a:rPr lang="en-US"/>
            <a:t>Weights, bias, and activation functions are the building blocks that allow Artificial Intelligence to learn, think, and make smart decisions.</a:t>
          </a:r>
        </a:p>
      </dgm:t>
    </dgm:pt>
    <dgm:pt modelId="{236B8A84-F1E8-454E-8A50-49FB158FBF47}" type="parTrans" cxnId="{1CAC415F-4181-4E93-95E3-E3AB63011B2E}">
      <dgm:prSet/>
      <dgm:spPr/>
      <dgm:t>
        <a:bodyPr/>
        <a:lstStyle/>
        <a:p>
          <a:endParaRPr lang="en-US"/>
        </a:p>
      </dgm:t>
    </dgm:pt>
    <dgm:pt modelId="{AA5218F1-3195-4D7A-AAC7-F2A36267133E}" type="sibTrans" cxnId="{1CAC415F-4181-4E93-95E3-E3AB63011B2E}">
      <dgm:prSet/>
      <dgm:spPr/>
      <dgm:t>
        <a:bodyPr/>
        <a:lstStyle/>
        <a:p>
          <a:endParaRPr lang="en-US"/>
        </a:p>
      </dgm:t>
    </dgm:pt>
    <dgm:pt modelId="{5E8546F1-F26F-4CA5-BC31-1C9AFDBE92DF}">
      <dgm:prSet/>
      <dgm:spPr/>
      <dgm:t>
        <a:bodyPr/>
        <a:lstStyle/>
        <a:p>
          <a:r>
            <a:rPr lang="en-US"/>
            <a:t>If an 11-year-old can understand how AI makes decisions, then we are building technology the right way.</a:t>
          </a:r>
        </a:p>
      </dgm:t>
    </dgm:pt>
    <dgm:pt modelId="{139D46C2-6467-4BE4-8655-1E844B092D9A}" type="parTrans" cxnId="{88C28B15-0ECD-43FA-A0FC-E8FB9E64E93A}">
      <dgm:prSet/>
      <dgm:spPr/>
      <dgm:t>
        <a:bodyPr/>
        <a:lstStyle/>
        <a:p>
          <a:endParaRPr lang="en-US"/>
        </a:p>
      </dgm:t>
    </dgm:pt>
    <dgm:pt modelId="{E4E95809-D33C-4D1D-B16B-D5476DF1D34C}" type="sibTrans" cxnId="{88C28B15-0ECD-43FA-A0FC-E8FB9E64E93A}">
      <dgm:prSet/>
      <dgm:spPr/>
      <dgm:t>
        <a:bodyPr/>
        <a:lstStyle/>
        <a:p>
          <a:endParaRPr lang="en-US"/>
        </a:p>
      </dgm:t>
    </dgm:pt>
    <dgm:pt modelId="{76CB01FC-78A7-4F02-B546-3805A9B27CF9}" type="pres">
      <dgm:prSet presAssocID="{BDA66CBE-2410-49CB-B3B0-DD1A369FDAE0}" presName="root" presStyleCnt="0">
        <dgm:presLayoutVars>
          <dgm:dir/>
          <dgm:resizeHandles val="exact"/>
        </dgm:presLayoutVars>
      </dgm:prSet>
      <dgm:spPr/>
    </dgm:pt>
    <dgm:pt modelId="{EC1420DB-7F77-42D5-BACD-BE735C25495B}" type="pres">
      <dgm:prSet presAssocID="{9DAA93C3-F21C-41AB-AFBB-28011F09733A}" presName="compNode" presStyleCnt="0"/>
      <dgm:spPr/>
    </dgm:pt>
    <dgm:pt modelId="{E458034B-405E-46B5-87B4-8BE196A120E4}" type="pres">
      <dgm:prSet presAssocID="{9DAA93C3-F21C-41AB-AFBB-28011F09733A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C25BDC5A-5902-4DCA-B294-3E0AA4E93FAC}" type="pres">
      <dgm:prSet presAssocID="{9DAA93C3-F21C-41AB-AFBB-28011F09733A}" presName="spaceRect" presStyleCnt="0"/>
      <dgm:spPr/>
    </dgm:pt>
    <dgm:pt modelId="{E1412837-6B33-46C2-8E87-40E186C74DA1}" type="pres">
      <dgm:prSet presAssocID="{9DAA93C3-F21C-41AB-AFBB-28011F09733A}" presName="textRect" presStyleLbl="revTx" presStyleIdx="0" presStyleCnt="2">
        <dgm:presLayoutVars>
          <dgm:chMax val="1"/>
          <dgm:chPref val="1"/>
        </dgm:presLayoutVars>
      </dgm:prSet>
      <dgm:spPr/>
    </dgm:pt>
    <dgm:pt modelId="{48B86E71-65E8-4A55-B2DD-2412DE732430}" type="pres">
      <dgm:prSet presAssocID="{AA5218F1-3195-4D7A-AAC7-F2A36267133E}" presName="sibTrans" presStyleCnt="0"/>
      <dgm:spPr/>
    </dgm:pt>
    <dgm:pt modelId="{C3292566-E461-4AD2-9E6E-190B1226A05E}" type="pres">
      <dgm:prSet presAssocID="{5E8546F1-F26F-4CA5-BC31-1C9AFDBE92DF}" presName="compNode" presStyleCnt="0"/>
      <dgm:spPr/>
    </dgm:pt>
    <dgm:pt modelId="{589DF6BE-DBD1-4F02-B22D-1C084A48F242}" type="pres">
      <dgm:prSet presAssocID="{5E8546F1-F26F-4CA5-BC31-1C9AFDBE92DF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CE6727B9-7E98-4151-9E29-ECCD8E4624A9}" type="pres">
      <dgm:prSet presAssocID="{5E8546F1-F26F-4CA5-BC31-1C9AFDBE92DF}" presName="spaceRect" presStyleCnt="0"/>
      <dgm:spPr/>
    </dgm:pt>
    <dgm:pt modelId="{86EC4CA3-73C4-4FD4-983A-4FFD4A2248DB}" type="pres">
      <dgm:prSet presAssocID="{5E8546F1-F26F-4CA5-BC31-1C9AFDBE92DF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88C28B15-0ECD-43FA-A0FC-E8FB9E64E93A}" srcId="{BDA66CBE-2410-49CB-B3B0-DD1A369FDAE0}" destId="{5E8546F1-F26F-4CA5-BC31-1C9AFDBE92DF}" srcOrd="1" destOrd="0" parTransId="{139D46C2-6467-4BE4-8655-1E844B092D9A}" sibTransId="{E4E95809-D33C-4D1D-B16B-D5476DF1D34C}"/>
    <dgm:cxn modelId="{CBFC8D1F-36D8-4A7F-ABAB-DBE8D30E63AF}" type="presOf" srcId="{5E8546F1-F26F-4CA5-BC31-1C9AFDBE92DF}" destId="{86EC4CA3-73C4-4FD4-983A-4FFD4A2248DB}" srcOrd="0" destOrd="0" presId="urn:microsoft.com/office/officeart/2018/2/layout/IconLabelList"/>
    <dgm:cxn modelId="{1CAC415F-4181-4E93-95E3-E3AB63011B2E}" srcId="{BDA66CBE-2410-49CB-B3B0-DD1A369FDAE0}" destId="{9DAA93C3-F21C-41AB-AFBB-28011F09733A}" srcOrd="0" destOrd="0" parTransId="{236B8A84-F1E8-454E-8A50-49FB158FBF47}" sibTransId="{AA5218F1-3195-4D7A-AAC7-F2A36267133E}"/>
    <dgm:cxn modelId="{D81256A9-E578-4E43-84BE-D10F56CCC0A4}" type="presOf" srcId="{BDA66CBE-2410-49CB-B3B0-DD1A369FDAE0}" destId="{76CB01FC-78A7-4F02-B546-3805A9B27CF9}" srcOrd="0" destOrd="0" presId="urn:microsoft.com/office/officeart/2018/2/layout/IconLabelList"/>
    <dgm:cxn modelId="{0262F0AD-ADB7-4076-95CD-86EACB980A0D}" type="presOf" srcId="{9DAA93C3-F21C-41AB-AFBB-28011F09733A}" destId="{E1412837-6B33-46C2-8E87-40E186C74DA1}" srcOrd="0" destOrd="0" presId="urn:microsoft.com/office/officeart/2018/2/layout/IconLabelList"/>
    <dgm:cxn modelId="{31B32EC7-A59A-4CC6-8DB4-CEA03EECE55D}" type="presParOf" srcId="{76CB01FC-78A7-4F02-B546-3805A9B27CF9}" destId="{EC1420DB-7F77-42D5-BACD-BE735C25495B}" srcOrd="0" destOrd="0" presId="urn:microsoft.com/office/officeart/2018/2/layout/IconLabelList"/>
    <dgm:cxn modelId="{36911908-661E-490C-ADB6-2BD5CA28332C}" type="presParOf" srcId="{EC1420DB-7F77-42D5-BACD-BE735C25495B}" destId="{E458034B-405E-46B5-87B4-8BE196A120E4}" srcOrd="0" destOrd="0" presId="urn:microsoft.com/office/officeart/2018/2/layout/IconLabelList"/>
    <dgm:cxn modelId="{42ADF067-BD5C-48E6-9DFA-DC7D5BE391EA}" type="presParOf" srcId="{EC1420DB-7F77-42D5-BACD-BE735C25495B}" destId="{C25BDC5A-5902-4DCA-B294-3E0AA4E93FAC}" srcOrd="1" destOrd="0" presId="urn:microsoft.com/office/officeart/2018/2/layout/IconLabelList"/>
    <dgm:cxn modelId="{9C0605AB-A9B3-42D9-83BD-DB2CE546167B}" type="presParOf" srcId="{EC1420DB-7F77-42D5-BACD-BE735C25495B}" destId="{E1412837-6B33-46C2-8E87-40E186C74DA1}" srcOrd="2" destOrd="0" presId="urn:microsoft.com/office/officeart/2018/2/layout/IconLabelList"/>
    <dgm:cxn modelId="{26B3DDA0-5F53-486B-8B82-8C8F2E0B5ADC}" type="presParOf" srcId="{76CB01FC-78A7-4F02-B546-3805A9B27CF9}" destId="{48B86E71-65E8-4A55-B2DD-2412DE732430}" srcOrd="1" destOrd="0" presId="urn:microsoft.com/office/officeart/2018/2/layout/IconLabelList"/>
    <dgm:cxn modelId="{DD1F55BE-584C-4F73-B029-1C84FAB98260}" type="presParOf" srcId="{76CB01FC-78A7-4F02-B546-3805A9B27CF9}" destId="{C3292566-E461-4AD2-9E6E-190B1226A05E}" srcOrd="2" destOrd="0" presId="urn:microsoft.com/office/officeart/2018/2/layout/IconLabelList"/>
    <dgm:cxn modelId="{062378FE-64CB-42E4-BE19-9EC78F6E83F5}" type="presParOf" srcId="{C3292566-E461-4AD2-9E6E-190B1226A05E}" destId="{589DF6BE-DBD1-4F02-B22D-1C084A48F242}" srcOrd="0" destOrd="0" presId="urn:microsoft.com/office/officeart/2018/2/layout/IconLabelList"/>
    <dgm:cxn modelId="{795E9AB4-9ACE-4F7C-B03E-DDE22406841B}" type="presParOf" srcId="{C3292566-E461-4AD2-9E6E-190B1226A05E}" destId="{CE6727B9-7E98-4151-9E29-ECCD8E4624A9}" srcOrd="1" destOrd="0" presId="urn:microsoft.com/office/officeart/2018/2/layout/IconLabelList"/>
    <dgm:cxn modelId="{DF47510A-1385-4517-B51E-D708364214FC}" type="presParOf" srcId="{C3292566-E461-4AD2-9E6E-190B1226A05E}" destId="{86EC4CA3-73C4-4FD4-983A-4FFD4A2248DB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458034B-405E-46B5-87B4-8BE196A120E4}">
      <dsp:nvSpPr>
        <dsp:cNvPr id="0" name=""/>
        <dsp:cNvSpPr/>
      </dsp:nvSpPr>
      <dsp:spPr>
        <a:xfrm>
          <a:off x="1097934" y="657579"/>
          <a:ext cx="1695937" cy="169593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412837-6B33-46C2-8E87-40E186C74DA1}">
      <dsp:nvSpPr>
        <dsp:cNvPr id="0" name=""/>
        <dsp:cNvSpPr/>
      </dsp:nvSpPr>
      <dsp:spPr>
        <a:xfrm>
          <a:off x="61527" y="2780084"/>
          <a:ext cx="376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Weights, bias, and activation functions are the building blocks that allow Artificial Intelligence to learn, think, and make smart decisions.</a:t>
          </a:r>
        </a:p>
      </dsp:txBody>
      <dsp:txXfrm>
        <a:off x="61527" y="2780084"/>
        <a:ext cx="3768750" cy="720000"/>
      </dsp:txXfrm>
    </dsp:sp>
    <dsp:sp modelId="{589DF6BE-DBD1-4F02-B22D-1C084A48F242}">
      <dsp:nvSpPr>
        <dsp:cNvPr id="0" name=""/>
        <dsp:cNvSpPr/>
      </dsp:nvSpPr>
      <dsp:spPr>
        <a:xfrm>
          <a:off x="5526215" y="657579"/>
          <a:ext cx="1695937" cy="169593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EC4CA3-73C4-4FD4-983A-4FFD4A2248DB}">
      <dsp:nvSpPr>
        <dsp:cNvPr id="0" name=""/>
        <dsp:cNvSpPr/>
      </dsp:nvSpPr>
      <dsp:spPr>
        <a:xfrm>
          <a:off x="4489809" y="2780084"/>
          <a:ext cx="376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If an 11-year-old can understand how AI makes decisions, then we are building technology the right way.</a:t>
          </a:r>
        </a:p>
      </dsp:txBody>
      <dsp:txXfrm>
        <a:off x="4489809" y="2780084"/>
        <a:ext cx="376875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699" y="687480"/>
            <a:ext cx="5605629" cy="99417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000"/>
              <a:t>Inside Andy the AI’s Brain: How Machines Learn to Decide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2321" y="2227943"/>
            <a:ext cx="5033221" cy="3788227"/>
          </a:xfrm>
        </p:spPr>
        <p:txBody>
          <a:bodyPr anchor="ctr">
            <a:normAutofit/>
          </a:bodyPr>
          <a:lstStyle/>
          <a:p>
            <a:r>
              <a:rPr lang="en-US" sz="2100"/>
              <a:t>A04_DeepThinkers_Sharise_ITAI2376</a:t>
            </a:r>
          </a:p>
          <a:p>
            <a:pPr marL="0" indent="0">
              <a:buNone/>
            </a:pPr>
            <a:endParaRPr lang="en-US" sz="2100"/>
          </a:p>
          <a:p>
            <a:r>
              <a:rPr lang="en-US" sz="2100"/>
              <a:t>Sharise Griggs, Iman Haamid, Andre Ellis, Erwin Cheng</a:t>
            </a:r>
          </a:p>
          <a:p>
            <a:r>
              <a:rPr lang="en-US" sz="2100"/>
              <a:t>Team: Deep Thinkers</a:t>
            </a:r>
          </a:p>
          <a:p>
            <a:r>
              <a:rPr lang="en-US" sz="2100"/>
              <a:t>ITAI 2376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9A309A7-1751-4ABE-A3C1-EEC40366AD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89435" y="0"/>
            <a:ext cx="195456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67D8EB6-EAE1-4F9C-B398-83321E287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29567" y="2369132"/>
            <a:ext cx="2119736" cy="2119736"/>
          </a:xfrm>
          <a:prstGeom prst="ellipse">
            <a:avLst/>
          </a:prstGeom>
          <a:solidFill>
            <a:srgbClr val="FFFFFF"/>
          </a:solidFill>
          <a:ln w="222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7" name="Graphic 6" descr="Welder">
            <a:extLst>
              <a:ext uri="{FF2B5EF4-FFF2-40B4-BE49-F238E27FC236}">
                <a16:creationId xmlns:a16="http://schemas.microsoft.com/office/drawing/2014/main" id="{0877FFC1-9FC9-3642-5C93-9A24F2D17F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24964" y="2865141"/>
            <a:ext cx="1143455" cy="114345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930" y="1050595"/>
            <a:ext cx="6056111" cy="1618489"/>
          </a:xfrm>
        </p:spPr>
        <p:txBody>
          <a:bodyPr anchor="ctr">
            <a:normAutofit/>
          </a:bodyPr>
          <a:lstStyle/>
          <a:p>
            <a:r>
              <a:rPr lang="en-US" sz="6300"/>
              <a:t>Meet Andy 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3930" y="2969469"/>
            <a:ext cx="6056111" cy="2800395"/>
          </a:xfrm>
        </p:spPr>
        <p:txBody>
          <a:bodyPr anchor="t">
            <a:normAutofit/>
          </a:bodyPr>
          <a:lstStyle/>
          <a:p>
            <a:r>
              <a:rPr lang="en-US" sz="2100"/>
              <a:t>Andy is a new Artificial Intelligence system learning how to make smart decisions.</a:t>
            </a:r>
          </a:p>
          <a:p>
            <a:endParaRPr lang="en-US" sz="2100"/>
          </a:p>
          <a:p>
            <a:r>
              <a:rPr lang="en-US" sz="2100"/>
              <a:t>Just like humans, AI studies information before choosing what to do.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837543A-6020-4505-A233-C9DB4BF740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4168866" cy="132556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t>What Are Weights?</a:t>
            </a:r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5B16301-FB18-48BA-A6DD-C37CAF6F9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56521" y="1"/>
            <a:ext cx="851299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4168866" cy="435133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500"/>
              <a:t>Weights tell AI what matters MOST.</a:t>
            </a:r>
          </a:p>
          <a:p>
            <a:pPr>
              <a:lnSpc>
                <a:spcPct val="90000"/>
              </a:lnSpc>
            </a:pPr>
            <a:endParaRPr lang="en-US" sz="2500"/>
          </a:p>
          <a:p>
            <a:pPr>
              <a:lnSpc>
                <a:spcPct val="90000"/>
              </a:lnSpc>
            </a:pPr>
            <a:r>
              <a:rPr lang="en-US" sz="2500"/>
              <a:t>Example:</a:t>
            </a:r>
          </a:p>
          <a:p>
            <a:pPr>
              <a:lnSpc>
                <a:spcPct val="90000"/>
              </a:lnSpc>
            </a:pPr>
            <a:r>
              <a:rPr lang="en-US" sz="2500"/>
              <a:t>When choosing a dog, friendliness may matter more than color.</a:t>
            </a:r>
          </a:p>
          <a:p>
            <a:pPr>
              <a:lnSpc>
                <a:spcPct val="90000"/>
              </a:lnSpc>
            </a:pPr>
            <a:endParaRPr lang="en-US" sz="2500"/>
          </a:p>
          <a:p>
            <a:pPr>
              <a:lnSpc>
                <a:spcPct val="90000"/>
              </a:lnSpc>
            </a:pPr>
            <a:r>
              <a:rPr lang="en-US" sz="2500"/>
              <a:t>✔ Weights help AI prioritize important information.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3C0D90E-074A-4F52-9B11-B52BEF4B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5982" y="2624479"/>
            <a:ext cx="609320" cy="812427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Block Arc 13">
            <a:extLst>
              <a:ext uri="{FF2B5EF4-FFF2-40B4-BE49-F238E27FC236}">
                <a16:creationId xmlns:a16="http://schemas.microsoft.com/office/drawing/2014/main" id="{CABBD4C1-E6F8-46F6-8152-A8A97490B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6385863" y="1516981"/>
            <a:ext cx="2387600" cy="1790700"/>
          </a:xfrm>
          <a:prstGeom prst="blockArc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3BA5EF5-1FE9-4BF9-83BB-269BCDDF61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5982" y="0"/>
            <a:ext cx="1736438" cy="1550992"/>
          </a:xfrm>
          <a:custGeom>
            <a:avLst/>
            <a:gdLst>
              <a:gd name="connsiteX0" fmla="*/ 0 w 2315251"/>
              <a:gd name="connsiteY0" fmla="*/ 0 h 1550992"/>
              <a:gd name="connsiteX1" fmla="*/ 138700 w 2315251"/>
              <a:gd name="connsiteY1" fmla="*/ 0 h 1550992"/>
              <a:gd name="connsiteX2" fmla="*/ 138700 w 2315251"/>
              <a:gd name="connsiteY2" fmla="*/ 1361400 h 1550992"/>
              <a:gd name="connsiteX3" fmla="*/ 2107387 w 2315251"/>
              <a:gd name="connsiteY3" fmla="*/ 222673 h 1550992"/>
              <a:gd name="connsiteX4" fmla="*/ 1722420 w 2315251"/>
              <a:gd name="connsiteY4" fmla="*/ 0 h 1550992"/>
              <a:gd name="connsiteX5" fmla="*/ 1999436 w 2315251"/>
              <a:gd name="connsiteY5" fmla="*/ 0 h 1550992"/>
              <a:gd name="connsiteX6" fmla="*/ 2280549 w 2315251"/>
              <a:gd name="connsiteY6" fmla="*/ 162605 h 1550992"/>
              <a:gd name="connsiteX7" fmla="*/ 2305953 w 2315251"/>
              <a:gd name="connsiteY7" fmla="*/ 257336 h 1550992"/>
              <a:gd name="connsiteX8" fmla="*/ 2280549 w 2315251"/>
              <a:gd name="connsiteY8" fmla="*/ 282740 h 1550992"/>
              <a:gd name="connsiteX9" fmla="*/ 104026 w 2315251"/>
              <a:gd name="connsiteY9" fmla="*/ 1541710 h 1550992"/>
              <a:gd name="connsiteX10" fmla="*/ 69351 w 2315251"/>
              <a:gd name="connsiteY10" fmla="*/ 1550992 h 1550992"/>
              <a:gd name="connsiteX11" fmla="*/ 0 w 2315251"/>
              <a:gd name="connsiteY11" fmla="*/ 1481643 h 1550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15251" h="1550992">
                <a:moveTo>
                  <a:pt x="0" y="0"/>
                </a:moveTo>
                <a:lnTo>
                  <a:pt x="138700" y="0"/>
                </a:lnTo>
                <a:lnTo>
                  <a:pt x="138700" y="1361400"/>
                </a:lnTo>
                <a:lnTo>
                  <a:pt x="2107387" y="222673"/>
                </a:lnTo>
                <a:lnTo>
                  <a:pt x="1722420" y="0"/>
                </a:lnTo>
                <a:lnTo>
                  <a:pt x="1999436" y="0"/>
                </a:lnTo>
                <a:lnTo>
                  <a:pt x="2280549" y="162605"/>
                </a:lnTo>
                <a:cubicBezTo>
                  <a:pt x="2313720" y="181745"/>
                  <a:pt x="2325104" y="224155"/>
                  <a:pt x="2305953" y="257336"/>
                </a:cubicBezTo>
                <a:cubicBezTo>
                  <a:pt x="2299872" y="267889"/>
                  <a:pt x="2291101" y="276648"/>
                  <a:pt x="2280549" y="282740"/>
                </a:cubicBezTo>
                <a:lnTo>
                  <a:pt x="104026" y="1541710"/>
                </a:lnTo>
                <a:cubicBezTo>
                  <a:pt x="93484" y="1547802"/>
                  <a:pt x="81523" y="1551003"/>
                  <a:pt x="69351" y="1550992"/>
                </a:cubicBezTo>
                <a:cubicBezTo>
                  <a:pt x="31049" y="1550992"/>
                  <a:pt x="0" y="1519944"/>
                  <a:pt x="0" y="1481643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B3BCACB-5880-460B-9606-8C433A9AF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793478" y="1331572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8853921-7BC9-4BDE-ACAB-133C683C8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54162" y="4112081"/>
            <a:ext cx="889838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09192968-3AE7-4470-A61C-97294BB927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992895">
            <a:off x="4565205" y="4145122"/>
            <a:ext cx="3062574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3AB72E55-43E4-4356-BFE8-E2102CB0B5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5982" y="4962670"/>
            <a:ext cx="1982514" cy="1895331"/>
          </a:xfrm>
          <a:custGeom>
            <a:avLst/>
            <a:gdLst>
              <a:gd name="connsiteX0" fmla="*/ 1321676 w 2643352"/>
              <a:gd name="connsiteY0" fmla="*/ 0 h 1895331"/>
              <a:gd name="connsiteX1" fmla="*/ 2643352 w 2643352"/>
              <a:gd name="connsiteY1" fmla="*/ 1321676 h 1895331"/>
              <a:gd name="connsiteX2" fmla="*/ 2539488 w 2643352"/>
              <a:gd name="connsiteY2" fmla="*/ 1836132 h 1895331"/>
              <a:gd name="connsiteX3" fmla="*/ 2510970 w 2643352"/>
              <a:gd name="connsiteY3" fmla="*/ 1895331 h 1895331"/>
              <a:gd name="connsiteX4" fmla="*/ 132382 w 2643352"/>
              <a:gd name="connsiteY4" fmla="*/ 1895331 h 1895331"/>
              <a:gd name="connsiteX5" fmla="*/ 103864 w 2643352"/>
              <a:gd name="connsiteY5" fmla="*/ 1836132 h 1895331"/>
              <a:gd name="connsiteX6" fmla="*/ 0 w 2643352"/>
              <a:gd name="connsiteY6" fmla="*/ 1321676 h 1895331"/>
              <a:gd name="connsiteX7" fmla="*/ 1321676 w 2643352"/>
              <a:gd name="connsiteY7" fmla="*/ 0 h 1895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43352" h="1895331">
                <a:moveTo>
                  <a:pt x="1321676" y="0"/>
                </a:moveTo>
                <a:cubicBezTo>
                  <a:pt x="2051617" y="0"/>
                  <a:pt x="2643352" y="591735"/>
                  <a:pt x="2643352" y="1321676"/>
                </a:cubicBezTo>
                <a:cubicBezTo>
                  <a:pt x="2643352" y="1504161"/>
                  <a:pt x="2606369" y="1678009"/>
                  <a:pt x="2539488" y="1836132"/>
                </a:cubicBezTo>
                <a:lnTo>
                  <a:pt x="2510970" y="1895331"/>
                </a:lnTo>
                <a:lnTo>
                  <a:pt x="132382" y="1895331"/>
                </a:lnTo>
                <a:lnTo>
                  <a:pt x="103864" y="1836132"/>
                </a:lnTo>
                <a:cubicBezTo>
                  <a:pt x="36984" y="1678009"/>
                  <a:pt x="0" y="1504161"/>
                  <a:pt x="0" y="1321676"/>
                </a:cubicBezTo>
                <a:cubicBezTo>
                  <a:pt x="0" y="591735"/>
                  <a:pt x="591735" y="0"/>
                  <a:pt x="13216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r>
              <a:rPr lang="en-US" sz="3500"/>
              <a:t>What Is Bias?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1" y="2743200"/>
            <a:ext cx="3485179" cy="3613149"/>
          </a:xfrm>
        </p:spPr>
        <p:txBody>
          <a:bodyPr anchor="ctr">
            <a:normAutofit/>
          </a:bodyPr>
          <a:lstStyle/>
          <a:p>
            <a:r>
              <a:rPr lang="en-US" sz="1700"/>
              <a:t>Bias is a starting preference that helps AI lean toward a decision.</a:t>
            </a:r>
          </a:p>
          <a:p>
            <a:endParaRPr lang="en-US" sz="1700"/>
          </a:p>
          <a:p>
            <a:r>
              <a:rPr lang="en-US" sz="1700"/>
              <a:t>Example:</a:t>
            </a:r>
          </a:p>
          <a:p>
            <a:r>
              <a:rPr lang="en-US" sz="1700"/>
              <a:t>If most families want friendly pets, the AI begins to favor friendliness.</a:t>
            </a:r>
          </a:p>
          <a:p>
            <a:endParaRPr lang="en-US" sz="1700"/>
          </a:p>
          <a:p>
            <a:r>
              <a:rPr lang="en-US" sz="1700"/>
              <a:t>✔ Bias helps AI make faster, more efficient predictions.</a:t>
            </a:r>
          </a:p>
        </p:txBody>
      </p:sp>
      <p:pic>
        <p:nvPicPr>
          <p:cNvPr id="5" name="Picture 4" descr="A cat and golden retriever laying down">
            <a:extLst>
              <a:ext uri="{FF2B5EF4-FFF2-40B4-BE49-F238E27FC236}">
                <a16:creationId xmlns:a16="http://schemas.microsoft.com/office/drawing/2014/main" id="{24086E85-9D91-DDE3-7500-CB7F7422FD0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326" r="22124" b="-2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500"/>
              <a:t>Activation Function: Decision 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1" y="2743200"/>
            <a:ext cx="3485179" cy="3613149"/>
          </a:xfrm>
        </p:spPr>
        <p:txBody>
          <a:bodyPr anchor="ctr">
            <a:normAutofit/>
          </a:bodyPr>
          <a:lstStyle/>
          <a:p>
            <a:r>
              <a:rPr lang="en-US" sz="1700"/>
              <a:t>Activation functions help AI decide whether it should ACT or WAIT.</a:t>
            </a:r>
          </a:p>
          <a:p>
            <a:endParaRPr lang="en-US" sz="1700"/>
          </a:p>
          <a:p>
            <a:r>
              <a:rPr lang="en-US" sz="1700"/>
              <a:t>Think of a traffic light:</a:t>
            </a:r>
          </a:p>
          <a:p>
            <a:r>
              <a:rPr lang="en-US" sz="1700"/>
              <a:t>Green → Go</a:t>
            </a:r>
          </a:p>
          <a:p>
            <a:r>
              <a:rPr lang="en-US" sz="1700"/>
              <a:t>Red → Stop</a:t>
            </a:r>
          </a:p>
          <a:p>
            <a:endParaRPr lang="en-US" sz="1700"/>
          </a:p>
          <a:p>
            <a:r>
              <a:rPr lang="en-US" sz="1700"/>
              <a:t>✔ Activation functions determine if the signal is strong enough to move forward.</a:t>
            </a:r>
          </a:p>
        </p:txBody>
      </p:sp>
      <p:pic>
        <p:nvPicPr>
          <p:cNvPr id="5" name="Picture 4" descr="Green color on the traffic light">
            <a:extLst>
              <a:ext uri="{FF2B5EF4-FFF2-40B4-BE49-F238E27FC236}">
                <a16:creationId xmlns:a16="http://schemas.microsoft.com/office/drawing/2014/main" id="{86C0FDE0-5817-2928-2721-178C1C18B7D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6788" r="18662" b="-2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r>
              <a:rPr lang="en-US" sz="3500"/>
              <a:t>How It All Works Together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1" y="2743200"/>
            <a:ext cx="3485179" cy="3613149"/>
          </a:xfrm>
        </p:spPr>
        <p:txBody>
          <a:bodyPr anchor="ctr">
            <a:normAutofit/>
          </a:bodyPr>
          <a:lstStyle/>
          <a:p>
            <a:r>
              <a:rPr lang="en-US" sz="1700"/>
              <a:t>1. AI studies the data.</a:t>
            </a:r>
          </a:p>
          <a:p>
            <a:r>
              <a:rPr lang="en-US" sz="1700"/>
              <a:t>2. Weights decide what is important.</a:t>
            </a:r>
          </a:p>
          <a:p>
            <a:r>
              <a:rPr lang="en-US" sz="1700"/>
              <a:t>3. Bias provides a starting point.</a:t>
            </a:r>
          </a:p>
          <a:p>
            <a:r>
              <a:rPr lang="en-US" sz="1700"/>
              <a:t>4. Activation determines the final action.</a:t>
            </a:r>
          </a:p>
          <a:p>
            <a:endParaRPr lang="en-US" sz="1700"/>
          </a:p>
          <a:p>
            <a:r>
              <a:rPr lang="en-US" sz="1700"/>
              <a:t>Together, these components allow AI to make intelligent decisions.</a:t>
            </a:r>
          </a:p>
        </p:txBody>
      </p:sp>
      <p:pic>
        <p:nvPicPr>
          <p:cNvPr id="5" name="Picture 4" descr="A digital balance scale using circles">
            <a:extLst>
              <a:ext uri="{FF2B5EF4-FFF2-40B4-BE49-F238E27FC236}">
                <a16:creationId xmlns:a16="http://schemas.microsoft.com/office/drawing/2014/main" id="{AD69043C-8B84-69A2-8834-DB736E0A82B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120" r="28502" b="1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0" y="762001"/>
            <a:ext cx="4000647" cy="1708242"/>
          </a:xfrm>
        </p:spPr>
        <p:txBody>
          <a:bodyPr anchor="ctr">
            <a:normAutofit/>
          </a:bodyPr>
          <a:lstStyle/>
          <a:p>
            <a:r>
              <a:rPr lang="en-US" sz="3500"/>
              <a:t>Why This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0" y="2470244"/>
            <a:ext cx="4000647" cy="3769835"/>
          </a:xfrm>
        </p:spPr>
        <p:txBody>
          <a:bodyPr anchor="ctr">
            <a:normAutofit/>
          </a:bodyPr>
          <a:lstStyle/>
          <a:p>
            <a:r>
              <a:rPr lang="en-US" sz="1700"/>
              <a:t>These concepts power real-world technology:</a:t>
            </a:r>
          </a:p>
          <a:p>
            <a:endParaRPr lang="en-US" sz="1700"/>
          </a:p>
          <a:p>
            <a:r>
              <a:rPr lang="en-US" sz="1700"/>
              <a:t>Recommendation systems (Netflix, TikTok)</a:t>
            </a:r>
          </a:p>
          <a:p>
            <a:r>
              <a:rPr lang="en-US" sz="1700"/>
              <a:t>Self-driving cars</a:t>
            </a:r>
          </a:p>
          <a:p>
            <a:r>
              <a:rPr lang="en-US" sz="1700"/>
              <a:t>Healthcare tools</a:t>
            </a:r>
          </a:p>
          <a:p>
            <a:r>
              <a:rPr lang="en-US" sz="1700"/>
              <a:t>Fraud detection</a:t>
            </a:r>
          </a:p>
          <a:p>
            <a:endParaRPr lang="en-US" sz="1700"/>
          </a:p>
          <a:p>
            <a:r>
              <a:rPr lang="en-US" sz="1700"/>
              <a:t>AI is shaping the future of how we live and work.</a:t>
            </a:r>
          </a:p>
        </p:txBody>
      </p:sp>
      <p:pic>
        <p:nvPicPr>
          <p:cNvPr id="5" name="Picture 4" descr="Long exposure of lights">
            <a:extLst>
              <a:ext uri="{FF2B5EF4-FFF2-40B4-BE49-F238E27FC236}">
                <a16:creationId xmlns:a16="http://schemas.microsoft.com/office/drawing/2014/main" id="{1682474A-1188-1E48-1F8F-7100E1BABCF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8204" r="22918" b="-1"/>
          <a:stretch>
            <a:fillRect/>
          </a:stretch>
        </p:blipFill>
        <p:spPr>
          <a:xfrm>
            <a:off x="5143347" y="-10886"/>
            <a:ext cx="4000653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38F59A4-4431-460D-8E49-6E65C189A5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A919B9C-5C01-47E4-B2F2-45F589208A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85A82CE-D835-4542-BE8D-62A8F5A943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063D7EF0-3AC8-4029-B55D-EBDD733D39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accent4">
                <a:lumMod val="75000"/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3147" y="365125"/>
            <a:ext cx="8317705" cy="1325563"/>
          </a:xfrm>
        </p:spPr>
        <p:txBody>
          <a:bodyPr>
            <a:normAutofit/>
          </a:bodyPr>
          <a:lstStyle/>
          <a:p>
            <a:r>
              <a:rPr lang="en-US" sz="3500"/>
              <a:t>Final Thought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769612E-6D04-9888-47C2-70B8B202451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17238234"/>
              </p:ext>
            </p:extLst>
          </p:nvPr>
        </p:nvGraphicFramePr>
        <p:xfrm>
          <a:off x="410766" y="2133600"/>
          <a:ext cx="8320087" cy="41576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930" y="1050595"/>
            <a:ext cx="6056111" cy="1618489"/>
          </a:xfrm>
        </p:spPr>
        <p:txBody>
          <a:bodyPr anchor="ctr">
            <a:normAutofit/>
          </a:bodyPr>
          <a:lstStyle/>
          <a:p>
            <a:r>
              <a:rPr lang="en-US" sz="6300"/>
              <a:t>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3930" y="2969469"/>
            <a:ext cx="6056111" cy="2800395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900"/>
              <a:t>IBM Cloud Learn Hub — Deep Learning</a:t>
            </a:r>
          </a:p>
          <a:p>
            <a:pPr>
              <a:lnSpc>
                <a:spcPct val="90000"/>
              </a:lnSpc>
            </a:pPr>
            <a:r>
              <a:rPr lang="en-US" sz="1900"/>
              <a:t>https://www.ibm.com/topics/deep-learning</a:t>
            </a:r>
          </a:p>
          <a:p>
            <a:pPr>
              <a:lnSpc>
                <a:spcPct val="90000"/>
              </a:lnSpc>
            </a:pPr>
            <a:endParaRPr lang="en-US" sz="1900"/>
          </a:p>
          <a:p>
            <a:pPr>
              <a:lnSpc>
                <a:spcPct val="90000"/>
              </a:lnSpc>
            </a:pPr>
            <a:r>
              <a:rPr lang="en-US" sz="1900"/>
              <a:t>Google AI Education</a:t>
            </a:r>
          </a:p>
          <a:p>
            <a:pPr>
              <a:lnSpc>
                <a:spcPct val="90000"/>
              </a:lnSpc>
            </a:pPr>
            <a:r>
              <a:rPr lang="en-US" sz="1900"/>
              <a:t>https://ai.google</a:t>
            </a:r>
          </a:p>
          <a:p>
            <a:pPr>
              <a:lnSpc>
                <a:spcPct val="90000"/>
              </a:lnSpc>
            </a:pPr>
            <a:endParaRPr lang="en-US" sz="1900"/>
          </a:p>
          <a:p>
            <a:pPr>
              <a:lnSpc>
                <a:spcPct val="90000"/>
              </a:lnSpc>
            </a:pPr>
            <a:r>
              <a:rPr lang="en-US" sz="1900"/>
              <a:t>Microsoft Learn — Introduction to AI</a:t>
            </a:r>
          </a:p>
          <a:p>
            <a:pPr>
              <a:lnSpc>
                <a:spcPct val="90000"/>
              </a:lnSpc>
            </a:pPr>
            <a:r>
              <a:rPr lang="en-US" sz="1900"/>
              <a:t>https://learn.microsoft.com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352</Words>
  <Application>Microsoft Office PowerPoint</Application>
  <PresentationFormat>On-screen Show (4:3)</PresentationFormat>
  <Paragraphs>60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Inside Andy the AI’s Brain: How Machines Learn to Decide</vt:lpstr>
      <vt:lpstr>Meet Andy 🤖</vt:lpstr>
      <vt:lpstr>What Are Weights?</vt:lpstr>
      <vt:lpstr>What Is Bias?</vt:lpstr>
      <vt:lpstr>Activation Function: Decision Time</vt:lpstr>
      <vt:lpstr>How It All Works Together</vt:lpstr>
      <vt:lpstr>Why This Matters</vt:lpstr>
      <vt:lpstr>Final Thought</vt:lpstr>
      <vt:lpstr>Sources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shariseur griggs</dc:creator>
  <cp:keywords/>
  <dc:description>generated using python-pptx</dc:description>
  <cp:lastModifiedBy>shariseur griggs</cp:lastModifiedBy>
  <cp:revision>2</cp:revision>
  <dcterms:created xsi:type="dcterms:W3CDTF">2013-01-27T09:14:16Z</dcterms:created>
  <dcterms:modified xsi:type="dcterms:W3CDTF">2026-02-04T22:41:23Z</dcterms:modified>
  <cp:category/>
</cp:coreProperties>
</file>